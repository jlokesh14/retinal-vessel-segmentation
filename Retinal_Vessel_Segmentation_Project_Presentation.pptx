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TTIGARI LOKESH GOUD" userId="1f3267ebbe94791d" providerId="LiveId" clId="{A36C6483-88CA-4EBD-8167-D5F99EFBB2C1}"/>
    <pc:docChg chg="custSel modSld">
      <pc:chgData name="JETTIGARI LOKESH GOUD" userId="1f3267ebbe94791d" providerId="LiveId" clId="{A36C6483-88CA-4EBD-8167-D5F99EFBB2C1}" dt="2026-08-20T03:07:08.465" v="50" actId="14100"/>
      <pc:docMkLst>
        <pc:docMk/>
      </pc:docMkLst>
      <pc:sldChg chg="addSp delSp modSp mod">
        <pc:chgData name="JETTIGARI LOKESH GOUD" userId="1f3267ebbe94791d" providerId="LiveId" clId="{A36C6483-88CA-4EBD-8167-D5F99EFBB2C1}" dt="2026-08-20T03:07:08.465" v="50" actId="14100"/>
        <pc:sldMkLst>
          <pc:docMk/>
          <pc:sldMk cId="0" sldId="266"/>
        </pc:sldMkLst>
        <pc:spChg chg="del">
          <ac:chgData name="JETTIGARI LOKESH GOUD" userId="1f3267ebbe94791d" providerId="LiveId" clId="{A36C6483-88CA-4EBD-8167-D5F99EFBB2C1}" dt="2026-08-20T02:56:30.753" v="3" actId="478"/>
          <ac:spMkLst>
            <pc:docMk/>
            <pc:sldMk cId="0" sldId="266"/>
            <ac:spMk id="6" creationId="{00000000-0000-0000-0000-000000000000}"/>
          </ac:spMkLst>
        </pc:spChg>
        <pc:spChg chg="mod">
          <ac:chgData name="JETTIGARI LOKESH GOUD" userId="1f3267ebbe94791d" providerId="LiveId" clId="{A36C6483-88CA-4EBD-8167-D5F99EFBB2C1}" dt="2026-08-20T03:03:48.173" v="39" actId="1076"/>
          <ac:spMkLst>
            <pc:docMk/>
            <pc:sldMk cId="0" sldId="266"/>
            <ac:spMk id="7" creationId="{00000000-0000-0000-0000-000000000000}"/>
          </ac:spMkLst>
        </pc:spChg>
        <pc:spChg chg="mod">
          <ac:chgData name="JETTIGARI LOKESH GOUD" userId="1f3267ebbe94791d" providerId="LiveId" clId="{A36C6483-88CA-4EBD-8167-D5F99EFBB2C1}" dt="2026-08-20T03:03:54.597" v="40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JETTIGARI LOKESH GOUD" userId="1f3267ebbe94791d" providerId="LiveId" clId="{A36C6483-88CA-4EBD-8167-D5F99EFBB2C1}" dt="2026-08-20T03:03:59.001" v="41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JETTIGARI LOKESH GOUD" userId="1f3267ebbe94791d" providerId="LiveId" clId="{A36C6483-88CA-4EBD-8167-D5F99EFBB2C1}" dt="2026-08-20T03:04:38.009" v="44" actId="1076"/>
          <ac:spMkLst>
            <pc:docMk/>
            <pc:sldMk cId="0" sldId="266"/>
            <ac:spMk id="10" creationId="{00000000-0000-0000-0000-000000000000}"/>
          </ac:spMkLst>
        </pc:spChg>
        <pc:spChg chg="del">
          <ac:chgData name="JETTIGARI LOKESH GOUD" userId="1f3267ebbe94791d" providerId="LiveId" clId="{A36C6483-88CA-4EBD-8167-D5F99EFBB2C1}" dt="2026-08-20T02:56:33.587" v="4" actId="478"/>
          <ac:spMkLst>
            <pc:docMk/>
            <pc:sldMk cId="0" sldId="266"/>
            <ac:spMk id="11" creationId="{00000000-0000-0000-0000-000000000000}"/>
          </ac:spMkLst>
        </pc:spChg>
        <pc:picChg chg="add mod">
          <ac:chgData name="JETTIGARI LOKESH GOUD" userId="1f3267ebbe94791d" providerId="LiveId" clId="{A36C6483-88CA-4EBD-8167-D5F99EFBB2C1}" dt="2026-08-20T03:03:17.003" v="32" actId="14100"/>
          <ac:picMkLst>
            <pc:docMk/>
            <pc:sldMk cId="0" sldId="266"/>
            <ac:picMk id="13" creationId="{C2AD311B-8D26-4E65-A736-59C01AF3EF87}"/>
          </ac:picMkLst>
        </pc:picChg>
        <pc:picChg chg="add mod">
          <ac:chgData name="JETTIGARI LOKESH GOUD" userId="1f3267ebbe94791d" providerId="LiveId" clId="{A36C6483-88CA-4EBD-8167-D5F99EFBB2C1}" dt="2026-08-20T03:03:33.544" v="36" actId="14100"/>
          <ac:picMkLst>
            <pc:docMk/>
            <pc:sldMk cId="0" sldId="266"/>
            <ac:picMk id="15" creationId="{3F32F60A-7A99-383E-485E-93A48B992961}"/>
          </ac:picMkLst>
        </pc:picChg>
        <pc:picChg chg="add mod">
          <ac:chgData name="JETTIGARI LOKESH GOUD" userId="1f3267ebbe94791d" providerId="LiveId" clId="{A36C6483-88CA-4EBD-8167-D5F99EFBB2C1}" dt="2026-08-20T03:03:40.381" v="38" actId="14100"/>
          <ac:picMkLst>
            <pc:docMk/>
            <pc:sldMk cId="0" sldId="266"/>
            <ac:picMk id="17" creationId="{F100DB73-0038-0287-B7E6-86E7432606F9}"/>
          </ac:picMkLst>
        </pc:picChg>
        <pc:picChg chg="add del mod">
          <ac:chgData name="JETTIGARI LOKESH GOUD" userId="1f3267ebbe94791d" providerId="LiveId" clId="{A36C6483-88CA-4EBD-8167-D5F99EFBB2C1}" dt="2026-08-20T03:06:47.899" v="45" actId="478"/>
          <ac:picMkLst>
            <pc:docMk/>
            <pc:sldMk cId="0" sldId="266"/>
            <ac:picMk id="19" creationId="{3ED9836F-F911-7314-8209-DF457C7A649A}"/>
          </ac:picMkLst>
        </pc:picChg>
        <pc:picChg chg="add mod">
          <ac:chgData name="JETTIGARI LOKESH GOUD" userId="1f3267ebbe94791d" providerId="LiveId" clId="{A36C6483-88CA-4EBD-8167-D5F99EFBB2C1}" dt="2026-08-20T03:07:08.465" v="50" actId="14100"/>
          <ac:picMkLst>
            <pc:docMk/>
            <pc:sldMk cId="0" sldId="266"/>
            <ac:picMk id="21" creationId="{DF85F3CF-8823-CDEF-44D3-64EC34DAD1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8503920" y="914400"/>
            <a:ext cx="3017520" cy="5120640"/>
          </a:xfrm>
          <a:prstGeom prst="line">
            <a:avLst/>
          </a:prstGeom>
          <a:ln w="25400">
            <a:solidFill>
              <a:srgbClr val="30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732520" y="914400"/>
            <a:ext cx="2560320" cy="5120640"/>
          </a:xfrm>
          <a:prstGeom prst="line">
            <a:avLst/>
          </a:prstGeom>
          <a:ln w="25400">
            <a:solidFill>
              <a:srgbClr val="30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961120" y="914400"/>
            <a:ext cx="2103120" cy="5120640"/>
          </a:xfrm>
          <a:prstGeom prst="line">
            <a:avLst/>
          </a:prstGeom>
          <a:ln w="25400">
            <a:solidFill>
              <a:srgbClr val="30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189720" y="914400"/>
            <a:ext cx="1645920" cy="5120640"/>
          </a:xfrm>
          <a:prstGeom prst="line">
            <a:avLst/>
          </a:prstGeom>
          <a:ln w="25400">
            <a:solidFill>
              <a:srgbClr val="30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234440"/>
            <a:ext cx="7315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U-NET BASED DEEP LEARNING MODEL</a:t>
            </a:r>
            <a:br/>
            <a:r>
              <a:t>FOR RETINAL VESSEL SEGMENTATION</a:t>
            </a:r>
          </a:p>
          <a:p>
            <a:pPr>
              <a:defRPr sz="1800">
                <a:solidFill>
                  <a:srgbClr val="BED2E6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3684535" cy="9335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 err="1"/>
              <a:t>Jettigari</a:t>
            </a:r>
            <a:r>
              <a:rPr dirty="0"/>
              <a:t> Lokesh Goud</a:t>
            </a:r>
            <a:r>
              <a:rPr lang="en-IN" dirty="0"/>
              <a:t> (25911D5808)</a:t>
            </a:r>
            <a:endParaRPr dirty="0"/>
          </a:p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 err="1"/>
              <a:t>M.Tech</a:t>
            </a:r>
            <a:r>
              <a:rPr dirty="0"/>
              <a:t> – Computer Science and Engineering</a:t>
            </a:r>
          </a:p>
          <a:p>
            <a:pPr>
              <a:spcAft>
                <a:spcPts val="7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rPr dirty="0"/>
              <a:t>Vidya Jyothi Institute of Technology, Hyderabad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440680"/>
            <a:ext cx="5943600" cy="502920"/>
          </a:xfrm>
          <a:prstGeom prst="roundRect">
            <a:avLst/>
          </a:prstGeom>
          <a:solidFill>
            <a:srgbClr val="1F3B58"/>
          </a:solidFill>
          <a:ln w="19050">
            <a:solidFill>
              <a:srgbClr val="46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DRIVE Dataset  |  U-Net  |  </a:t>
            </a:r>
            <a:r>
              <a:rPr dirty="0" err="1"/>
              <a:t>PyTorch</a:t>
            </a:r>
            <a:r>
              <a:rPr dirty="0"/>
              <a:t>  |  Django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91"/>
                </a:solidFill>
                <a:latin typeface="Aptos"/>
              </a:defRPr>
            </a:pPr>
            <a:r>
              <a:t>Why retinal vessel segmentation is challenging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400800" cy="4480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4181C"/>
                </a:solidFill>
                <a:latin typeface="Aptos"/>
              </a:defRPr>
            </a:pPr>
            <a:r>
              <a:rPr dirty="0"/>
              <a:t>• Retinal vessels vary greatly in width, from major vessels to very thin branches.</a:t>
            </a:r>
          </a:p>
          <a:p>
            <a:pPr>
              <a:spcAft>
                <a:spcPts val="900"/>
              </a:spcAft>
              <a:defRPr sz="1700">
                <a:solidFill>
                  <a:srgbClr val="14181C"/>
                </a:solidFill>
                <a:latin typeface="Aptos"/>
              </a:defRPr>
            </a:pPr>
            <a:r>
              <a:rPr dirty="0"/>
              <a:t>• Low contrast between vessels and surrounding retinal tissue makes thin vessels difficult to detect.</a:t>
            </a:r>
          </a:p>
          <a:p>
            <a:pPr>
              <a:spcAft>
                <a:spcPts val="900"/>
              </a:spcAft>
              <a:defRPr sz="1700">
                <a:solidFill>
                  <a:srgbClr val="14181C"/>
                </a:solidFill>
                <a:latin typeface="Aptos"/>
              </a:defRPr>
            </a:pPr>
            <a:r>
              <a:rPr dirty="0"/>
              <a:t>• Complex branching and interconnected structures must be preserved during segmentation.</a:t>
            </a:r>
          </a:p>
          <a:p>
            <a:pPr>
              <a:spcAft>
                <a:spcPts val="900"/>
              </a:spcAft>
              <a:defRPr sz="1700">
                <a:solidFill>
                  <a:srgbClr val="14181C"/>
                </a:solidFill>
                <a:latin typeface="Aptos"/>
              </a:defRPr>
            </a:pPr>
            <a:r>
              <a:rPr dirty="0"/>
              <a:t>• Illumination variation in fundus images requires effective preprocessing.</a:t>
            </a:r>
          </a:p>
          <a:p>
            <a:pPr>
              <a:spcAft>
                <a:spcPts val="900"/>
              </a:spcAft>
              <a:defRPr sz="1700">
                <a:solidFill>
                  <a:srgbClr val="14181C"/>
                </a:solidFill>
                <a:latin typeface="Aptos"/>
              </a:defRPr>
            </a:pPr>
            <a:r>
              <a:rPr dirty="0"/>
              <a:t>• Patch-based inference reduces computation but requires careful reconstruction.</a:t>
            </a:r>
          </a:p>
          <a:p>
            <a:pPr>
              <a:spcAft>
                <a:spcPts val="900"/>
              </a:spcAft>
              <a:defRPr sz="1700">
                <a:solidFill>
                  <a:srgbClr val="14181C"/>
                </a:solidFill>
                <a:latin typeface="Aptos"/>
              </a:defRPr>
            </a:pPr>
            <a:r>
              <a:rPr dirty="0"/>
              <a:t>• A trained model alone is difficult to use; an accessible interface is needed for visualization and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600200"/>
            <a:ext cx="3886200" cy="192024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B43"/>
                </a:solidFill>
                <a:latin typeface="Aptos"/>
              </a:defRPr>
            </a:pPr>
            <a:r>
              <a:t>Need: an integrated pipeline</a:t>
            </a:r>
            <a:br/>
            <a:r>
              <a:t>for preprocessing → segmentation → evaluation →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840480"/>
            <a:ext cx="38862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5C91"/>
                </a:solidFill>
                <a:latin typeface="Aptos"/>
              </a:defRPr>
            </a:pPr>
            <a:r>
              <a:t>Target Output</a:t>
            </a:r>
            <a:br/>
            <a:r>
              <a:t>Binary retinal vessel mask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97180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Automate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9718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Develop a retinal vessel segmentation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325880"/>
            <a:ext cx="297180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28800"/>
            <a:ext cx="29718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Use green-channel extraction, CLAHE, normalization and FOV processing.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297180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Segment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828800"/>
            <a:ext cx="29718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Train a U-Net for binary vessel/background classification.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971800"/>
            <a:ext cx="297180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74720"/>
            <a:ext cx="29718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Select the segmentation threshold using validation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2971800"/>
            <a:ext cx="297180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3474720"/>
            <a:ext cx="29718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Measure Dice, IoU, Precision, Recall and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971800"/>
            <a:ext cx="297180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3474720"/>
            <a:ext cx="29718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Generate DRIVE test predictions and integrate inference into Django.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617720"/>
            <a:ext cx="297180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20640"/>
            <a:ext cx="29718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Provide masks, overlays, vessel coverage and probability statistics.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331720" cy="77724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3"/>
                </a:solidFill>
                <a:latin typeface="Aptos"/>
              </a:defRPr>
            </a:pPr>
            <a:r>
              <a:t>Traditional</a:t>
            </a:r>
            <a:br/>
            <a:r>
              <a:t>Methods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2331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Thresholding, morphology,</a:t>
            </a:r>
            <a:br/>
            <a:r>
              <a:t>matched filters, vessel tracking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53512" y="1828800"/>
            <a:ext cx="457200" cy="0"/>
          </a:xfrm>
          <a:prstGeom prst="line">
            <a:avLst/>
          </a:prstGeom>
          <a:ln w="25400">
            <a:solidFill>
              <a:srgbClr val="26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74720" y="1417320"/>
            <a:ext cx="2331720" cy="77724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3"/>
                </a:solidFill>
                <a:latin typeface="Aptos"/>
              </a:defRPr>
            </a:pPr>
            <a:r>
              <a:t>Machine</a:t>
            </a:r>
            <a:br/>
            <a: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94560"/>
            <a:ext cx="2331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Hand-crafted features +</a:t>
            </a:r>
            <a:br/>
            <a:r>
              <a:t>classifiers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33872" y="1828800"/>
            <a:ext cx="457200" cy="0"/>
          </a:xfrm>
          <a:prstGeom prst="line">
            <a:avLst/>
          </a:prstGeom>
          <a:ln w="25400">
            <a:solidFill>
              <a:srgbClr val="26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55080" y="1417320"/>
            <a:ext cx="2331720" cy="77724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3"/>
                </a:solidFill>
                <a:latin typeface="Aptos"/>
              </a:defRPr>
            </a:pPr>
            <a:r>
              <a:t>Deep</a:t>
            </a:r>
            <a:br/>
            <a:r>
              <a:t>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194560"/>
            <a:ext cx="2331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CNNs learn hierarchical</a:t>
            </a:r>
            <a:br/>
            <a:r>
              <a:t>features automatically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14232" y="1828800"/>
            <a:ext cx="457200" cy="0"/>
          </a:xfrm>
          <a:prstGeom prst="line">
            <a:avLst/>
          </a:prstGeom>
          <a:ln w="25400">
            <a:solidFill>
              <a:srgbClr val="26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235440" y="1417320"/>
            <a:ext cx="2331720" cy="77724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U-Net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194560"/>
            <a:ext cx="23317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Encoder–decoder + skip</a:t>
            </a:r>
            <a:br/>
            <a:r>
              <a:t>connections for 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91"/>
                </a:solidFill>
                <a:latin typeface="Aptos"/>
              </a:defRPr>
            </a:pPr>
            <a:r>
              <a:t>Key references from the project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515600" cy="17373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4181C"/>
                </a:solidFill>
                <a:latin typeface="Aptos"/>
              </a:defRPr>
            </a:pPr>
            <a:r>
              <a:t>• Staal et al. (2004) – ridge-based retinal vessel segmentation.</a:t>
            </a:r>
          </a:p>
          <a:p>
            <a:pPr>
              <a:spcAft>
                <a:spcPts val="900"/>
              </a:spcAft>
              <a:defRPr sz="1400">
                <a:solidFill>
                  <a:srgbClr val="14181C"/>
                </a:solidFill>
                <a:latin typeface="Aptos"/>
              </a:defRPr>
            </a:pPr>
            <a:r>
              <a:t>• Hoover et al. (2000) – matched-filter response for blood-vessel localization.</a:t>
            </a:r>
          </a:p>
          <a:p>
            <a:pPr>
              <a:spcAft>
                <a:spcPts val="900"/>
              </a:spcAft>
              <a:defRPr sz="1400">
                <a:solidFill>
                  <a:srgbClr val="14181C"/>
                </a:solidFill>
                <a:latin typeface="Aptos"/>
              </a:defRPr>
            </a:pPr>
            <a:r>
              <a:t>• Soares et al. (2006) – Gabor wavelet + supervised classification.</a:t>
            </a:r>
          </a:p>
          <a:p>
            <a:pPr>
              <a:spcAft>
                <a:spcPts val="900"/>
              </a:spcAft>
              <a:defRPr sz="1400">
                <a:solidFill>
                  <a:srgbClr val="14181C"/>
                </a:solidFill>
                <a:latin typeface="Aptos"/>
              </a:defRPr>
            </a:pPr>
            <a:r>
              <a:t>• Liskowski &amp; Krawiec (2016) – deep neural networks for retinal vessels.</a:t>
            </a:r>
          </a:p>
          <a:p>
            <a:pPr>
              <a:spcAft>
                <a:spcPts val="900"/>
              </a:spcAft>
              <a:defRPr sz="1400">
                <a:solidFill>
                  <a:srgbClr val="14181C"/>
                </a:solidFill>
                <a:latin typeface="Aptos"/>
              </a:defRPr>
            </a:pPr>
            <a:r>
              <a:t>• Ronneberger et al. (2015) – U-Net for biomedical image segmentation.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Research Gap &amp; Proposed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200400" cy="54864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Existing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063240" cy="320040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Traditional methods depend on manually designed image features.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Low-contrast and thin vessels remain difficult.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Deep-learning models need careful preprocessing and thresholding.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A model alone does not provide an accessible analysis workflow.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77639" y="2834640"/>
            <a:ext cx="594361" cy="0"/>
          </a:xfrm>
          <a:prstGeom prst="line">
            <a:avLst/>
          </a:prstGeom>
          <a:ln w="38100">
            <a:solidFill>
              <a:srgbClr val="287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09160" y="1143000"/>
            <a:ext cx="3108960" cy="548640"/>
          </a:xfrm>
          <a:prstGeom prst="roundRect">
            <a:avLst/>
          </a:prstGeom>
          <a:solidFill>
            <a:srgbClr val="28787D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Proposed Integrated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828800"/>
            <a:ext cx="2926080" cy="33832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DRIVE-based preprocessing pipeline.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64×64 patch-based U-Net segmentation.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Threshold optimization and quantitative evaluation.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Complete test-set prediction.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t>• Django interface for visualization and downloadable masks.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43000"/>
            <a:ext cx="2743200" cy="548640"/>
          </a:xfrm>
          <a:prstGeom prst="roundRect">
            <a:avLst/>
          </a:prstGeom>
          <a:solidFill>
            <a:srgbClr val="265C91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27432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B43"/>
                </a:solidFill>
                <a:latin typeface="Aptos"/>
              </a:defRPr>
            </a:pPr>
            <a:r>
              <a:t>Automated segmentation</a:t>
            </a:r>
            <a:br/>
            <a:r>
              <a:t>+ quantitative analysis</a:t>
            </a:r>
            <a:br/>
            <a:r>
              <a:t>+ accessible web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Methodology – Overall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240280"/>
            <a:ext cx="1234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5C91"/>
                </a:solidFill>
                <a:latin typeface="Aptos"/>
              </a:defRPr>
            </a:pPr>
            <a:r>
              <a:t>DRIVE</a:t>
            </a:r>
            <a:br/>
            <a:r>
              <a:t>Dataset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72768" y="2852928"/>
            <a:ext cx="192024" cy="0"/>
          </a:xfrm>
          <a:prstGeom prst="line">
            <a:avLst/>
          </a:prstGeom>
          <a:ln w="2286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01368" y="2240280"/>
            <a:ext cx="1234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787D"/>
                </a:solidFill>
                <a:latin typeface="Aptos"/>
              </a:defRPr>
            </a:pPr>
            <a:r>
              <a:t>Preprocessing</a:t>
            </a:r>
            <a:br/>
            <a:r>
              <a:t>Green + CLAHE</a:t>
            </a:r>
            <a:br/>
            <a:r>
              <a:t>+ Normalize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54096" y="2852928"/>
            <a:ext cx="192024" cy="0"/>
          </a:xfrm>
          <a:prstGeom prst="line">
            <a:avLst/>
          </a:prstGeom>
          <a:ln w="2286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82696" y="2240280"/>
            <a:ext cx="1234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E912D"/>
                </a:solidFill>
                <a:latin typeface="Aptos"/>
              </a:defRPr>
            </a:pPr>
            <a:r>
              <a:t>64×64</a:t>
            </a:r>
            <a:br/>
            <a:r>
              <a:t>Patch Generation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35424" y="2852928"/>
            <a:ext cx="192024" cy="0"/>
          </a:xfrm>
          <a:prstGeom prst="line">
            <a:avLst/>
          </a:prstGeom>
          <a:ln w="2286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64024" y="2240280"/>
            <a:ext cx="1234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B43"/>
                </a:solidFill>
                <a:latin typeface="Aptos"/>
              </a:defRPr>
            </a:pPr>
            <a:r>
              <a:t>U-Net</a:t>
            </a:r>
            <a:br/>
            <a:r>
              <a:t>Training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6752" y="2852928"/>
            <a:ext cx="192024" cy="0"/>
          </a:xfrm>
          <a:prstGeom prst="line">
            <a:avLst/>
          </a:prstGeom>
          <a:ln w="2286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45352" y="2240280"/>
            <a:ext cx="1234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B44141"/>
                </a:solidFill>
                <a:latin typeface="Aptos"/>
              </a:defRPr>
            </a:pPr>
            <a:r>
              <a:t>Validation +</a:t>
            </a:r>
            <a:br/>
            <a:r>
              <a:t>Threshold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79" y="2852928"/>
            <a:ext cx="192025" cy="0"/>
          </a:xfrm>
          <a:prstGeom prst="line">
            <a:avLst/>
          </a:prstGeom>
          <a:ln w="2286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26680" y="2240280"/>
            <a:ext cx="1234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65C91"/>
                </a:solidFill>
                <a:latin typeface="Aptos"/>
              </a:defRPr>
            </a:pPr>
            <a:r>
              <a:t>Test-set</a:t>
            </a:r>
            <a:br/>
            <a:r>
              <a:t>Prediction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79408" y="2852928"/>
            <a:ext cx="192024" cy="0"/>
          </a:xfrm>
          <a:prstGeom prst="line">
            <a:avLst/>
          </a:prstGeom>
          <a:ln w="2286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08008" y="2240280"/>
            <a:ext cx="1234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8787D"/>
                </a:solidFill>
                <a:latin typeface="Aptos"/>
              </a:defRPr>
            </a:pPr>
            <a:r>
              <a:t>Django</a:t>
            </a:r>
            <a:br/>
            <a:r>
              <a:t>Inference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60736" y="2852928"/>
            <a:ext cx="192024" cy="0"/>
          </a:xfrm>
          <a:prstGeom prst="line">
            <a:avLst/>
          </a:prstGeom>
          <a:ln w="2286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689336" y="2240280"/>
            <a:ext cx="1234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2B43"/>
                </a:solidFill>
                <a:latin typeface="Aptos"/>
              </a:defRPr>
            </a:pPr>
            <a:r>
              <a:t>Mask + Overlay</a:t>
            </a:r>
            <a:br/>
            <a:r>
              <a:t>+ Statistics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4572000"/>
            <a:ext cx="7863840" cy="68580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3"/>
                </a:solidFill>
                <a:latin typeface="Aptos"/>
              </a:defRPr>
            </a:pPr>
            <a:r>
              <a:t>Training: 30 epochs  |  Best checkpoint: Epoch 24  |  Inference threshold: 0.50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Dataset &amp; 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2743200" cy="59436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DRIVE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2743200" cy="210312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rPr dirty="0"/>
              <a:t>• Public retinal fundus-image benchmark.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rPr dirty="0"/>
              <a:t>• Provides vessel annotations and field-of-view information.</a:t>
            </a:r>
          </a:p>
          <a:p>
            <a:pPr>
              <a:spcAft>
                <a:spcPts val="900"/>
              </a:spcAft>
              <a:defRPr sz="1600">
                <a:solidFill>
                  <a:srgbClr val="14181C"/>
                </a:solidFill>
                <a:latin typeface="Aptos"/>
              </a:defRPr>
            </a:pPr>
            <a:r>
              <a:rPr dirty="0"/>
              <a:t>• Used for training, evaluation and test 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051560"/>
            <a:ext cx="7635240" cy="594360"/>
          </a:xfrm>
          <a:prstGeom prst="roundRect">
            <a:avLst/>
          </a:prstGeom>
          <a:solidFill>
            <a:srgbClr val="28787D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Preprocessing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874519"/>
            <a:ext cx="438912" cy="438912"/>
          </a:xfrm>
          <a:prstGeom prst="roundRect">
            <a:avLst/>
          </a:prstGeom>
          <a:solidFill>
            <a:srgbClr val="28787D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76472" y="2359152"/>
            <a:ext cx="1234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Green Channel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56632" y="2578608"/>
            <a:ext cx="201168" cy="0"/>
          </a:xfrm>
          <a:prstGeom prst="line">
            <a:avLst/>
          </a:prstGeom>
          <a:ln w="2540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67528" y="1874519"/>
            <a:ext cx="438912" cy="438912"/>
          </a:xfrm>
          <a:prstGeom prst="roundRect">
            <a:avLst/>
          </a:prstGeom>
          <a:solidFill>
            <a:srgbClr val="28787D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359152"/>
            <a:ext cx="1234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CLAHE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37960" y="2578608"/>
            <a:ext cx="201168" cy="0"/>
          </a:xfrm>
          <a:prstGeom prst="line">
            <a:avLst/>
          </a:prstGeom>
          <a:ln w="2540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48856" y="1874519"/>
            <a:ext cx="438912" cy="438912"/>
          </a:xfrm>
          <a:prstGeom prst="roundRect">
            <a:avLst/>
          </a:prstGeom>
          <a:solidFill>
            <a:srgbClr val="28787D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359152"/>
            <a:ext cx="1234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Normalization</a:t>
            </a:r>
            <a:br/>
            <a:r>
              <a:t>[0,1]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19288" y="2578608"/>
            <a:ext cx="201168" cy="0"/>
          </a:xfrm>
          <a:prstGeom prst="line">
            <a:avLst/>
          </a:prstGeom>
          <a:ln w="2540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30183" y="1874519"/>
            <a:ext cx="438912" cy="438912"/>
          </a:xfrm>
          <a:prstGeom prst="roundRect">
            <a:avLst/>
          </a:prstGeom>
          <a:solidFill>
            <a:srgbClr val="28787D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0456" y="2359152"/>
            <a:ext cx="1234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FOV Processing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00615" y="2578608"/>
            <a:ext cx="201169" cy="0"/>
          </a:xfrm>
          <a:prstGeom prst="line">
            <a:avLst/>
          </a:prstGeom>
          <a:ln w="25400">
            <a:solidFill>
              <a:srgbClr val="505A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11512" y="1874519"/>
            <a:ext cx="438912" cy="438912"/>
          </a:xfrm>
          <a:prstGeom prst="roundRect">
            <a:avLst/>
          </a:prstGeom>
          <a:solidFill>
            <a:srgbClr val="28787D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01784" y="2359152"/>
            <a:ext cx="1234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64×64 Patches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4069080"/>
            <a:ext cx="7132320" cy="77724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B43"/>
                </a:solidFill>
                <a:latin typeface="Aptos"/>
              </a:defRPr>
            </a:pPr>
            <a:r>
              <a:t>Patch-based processing reduces computational load while retaining local vessel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U-Net Model &amp;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3258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65C91"/>
                </a:solidFill>
                <a:latin typeface="Aptos"/>
              </a:defRPr>
            </a:pPr>
            <a:r>
              <a:t>Input</a:t>
            </a:r>
            <a:br/>
            <a:r>
              <a:t>64×64×1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828800"/>
            <a:ext cx="1143000" cy="128016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t>Encoder</a:t>
            </a:r>
            <a:br/>
            <a: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1143000" cy="128016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t>Encoder</a:t>
            </a:r>
            <a:br/>
            <a:r>
              <a:t>128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377440"/>
            <a:ext cx="1143000" cy="91440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t>Bottleneck</a:t>
            </a:r>
            <a:br/>
            <a:r>
              <a:t>256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1143000" cy="128016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t>Decoder</a:t>
            </a:r>
            <a:br/>
            <a:r>
              <a:t>128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1143000" cy="128016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t>Decoder</a:t>
            </a:r>
            <a:br/>
            <a:r>
              <a:t>64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1143000" cy="91440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t>Output</a:t>
            </a:r>
            <a:br/>
            <a: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74519" y="3017520"/>
            <a:ext cx="301753" cy="0"/>
          </a:xfrm>
          <a:prstGeom prst="line">
            <a:avLst/>
          </a:prstGeom>
          <a:ln w="25400">
            <a:solidFill>
              <a:srgbClr val="26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37560" y="2468880"/>
            <a:ext cx="301752" cy="0"/>
          </a:xfrm>
          <a:prstGeom prst="line">
            <a:avLst/>
          </a:prstGeom>
          <a:ln w="25400">
            <a:solidFill>
              <a:srgbClr val="26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0600" y="2743200"/>
            <a:ext cx="301752" cy="0"/>
          </a:xfrm>
          <a:prstGeom prst="line">
            <a:avLst/>
          </a:prstGeom>
          <a:ln w="25400">
            <a:solidFill>
              <a:srgbClr val="26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263640" y="2468880"/>
            <a:ext cx="301752" cy="274320"/>
          </a:xfrm>
          <a:prstGeom prst="line">
            <a:avLst/>
          </a:prstGeom>
          <a:ln w="25400">
            <a:solidFill>
              <a:srgbClr val="287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26679" y="2468880"/>
            <a:ext cx="301752" cy="0"/>
          </a:xfrm>
          <a:prstGeom prst="line">
            <a:avLst/>
          </a:prstGeom>
          <a:ln w="25400">
            <a:solidFill>
              <a:srgbClr val="287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89720" y="2468880"/>
            <a:ext cx="301752" cy="0"/>
          </a:xfrm>
          <a:prstGeom prst="line">
            <a:avLst/>
          </a:prstGeom>
          <a:ln w="25400">
            <a:solidFill>
              <a:srgbClr val="287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743200" y="1645920"/>
            <a:ext cx="5440679" cy="0"/>
          </a:xfrm>
          <a:prstGeom prst="line">
            <a:avLst/>
          </a:prstGeom>
          <a:ln w="19050">
            <a:solidFill>
              <a:srgbClr val="505A6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0" y="1051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91"/>
                </a:solidFill>
                <a:latin typeface="Aptos"/>
              </a:defRPr>
            </a:pPr>
            <a:r>
              <a:t>Skip connections preserve spatial detail needed for thin vessels.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72000"/>
            <a:ext cx="137160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251960"/>
            <a:ext cx="4206240" cy="155448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14181C"/>
                </a:solidFill>
                <a:latin typeface="Aptos"/>
              </a:defRPr>
            </a:pPr>
            <a:r>
              <a:t>• 30 training epochs</a:t>
            </a:r>
          </a:p>
          <a:p>
            <a:pPr>
              <a:spcAft>
                <a:spcPts val="900"/>
              </a:spcAft>
              <a:defRPr sz="1500">
                <a:solidFill>
                  <a:srgbClr val="14181C"/>
                </a:solidFill>
                <a:latin typeface="Aptos"/>
              </a:defRPr>
            </a:pPr>
            <a:r>
              <a:t>• Best checkpoint: Epoch 24</a:t>
            </a:r>
          </a:p>
          <a:p>
            <a:pPr>
              <a:spcAft>
                <a:spcPts val="900"/>
              </a:spcAft>
              <a:defRPr sz="1500">
                <a:solidFill>
                  <a:srgbClr val="14181C"/>
                </a:solidFill>
                <a:latin typeface="Aptos"/>
              </a:defRPr>
            </a:pPr>
            <a:r>
              <a:t>• Binary vessel/background segmentation</a:t>
            </a:r>
          </a:p>
          <a:p>
            <a:pPr>
              <a:spcAft>
                <a:spcPts val="900"/>
              </a:spcAft>
              <a:defRPr sz="1500">
                <a:solidFill>
                  <a:srgbClr val="14181C"/>
                </a:solidFill>
                <a:latin typeface="Aptos"/>
              </a:defRPr>
            </a:pPr>
            <a:r>
              <a:t>• Sigmoid output → probability 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4389120"/>
            <a:ext cx="2286000" cy="100584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B43"/>
                </a:solidFill>
                <a:latin typeface="Aptos"/>
              </a:defRPr>
            </a:pPr>
            <a:r>
              <a:t>Checkpoint</a:t>
            </a:r>
            <a:br/>
            <a:r>
              <a:t>best_unet.pth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Testing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91"/>
                </a:solidFill>
                <a:latin typeface="Aptos"/>
              </a:defRPr>
            </a:pPr>
            <a:r>
              <a:t>Evaluation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132588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508760"/>
            <a:ext cx="3931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Overlap between prediction and ground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39"/>
            <a:ext cx="132588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IoU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2377439"/>
            <a:ext cx="3931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Intersection relative to union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132588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3246120"/>
            <a:ext cx="3931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Correctness of predicted vessel pixels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14800"/>
            <a:ext cx="132588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4114800"/>
            <a:ext cx="3931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Vessel pixels correctly detected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83479"/>
            <a:ext cx="1325880" cy="502920"/>
          </a:xfrm>
          <a:prstGeom prst="roundRect">
            <a:avLst/>
          </a:prstGeom>
          <a:solidFill>
            <a:srgbClr val="162B43"/>
          </a:solidFill>
          <a:ln w="19050">
            <a:solidFill>
              <a:srgbClr val="16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48840" y="4983479"/>
            <a:ext cx="39319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E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14181C"/>
                </a:solidFill>
                <a:latin typeface="Aptos"/>
              </a:defRPr>
            </a:pPr>
            <a:r>
              <a:t>Overall pixel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0058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5C91"/>
                </a:solidFill>
                <a:latin typeface="Aptos"/>
              </a:defRPr>
            </a:pPr>
            <a:r>
              <a:t>Testing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508760"/>
            <a:ext cx="4663440" cy="50292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B43"/>
                </a:solidFill>
                <a:latin typeface="Aptos"/>
              </a:defRPr>
            </a:pPr>
            <a:r>
              <a:t>Load best checkpoint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377439"/>
            <a:ext cx="4663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B43"/>
                </a:solidFill>
                <a:latin typeface="Aptos"/>
              </a:defRPr>
            </a:pPr>
            <a:r>
              <a:t>Process 20 DRIVE test images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246120"/>
            <a:ext cx="4663440" cy="50292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B43"/>
                </a:solidFill>
                <a:latin typeface="Aptos"/>
              </a:defRPr>
            </a:pPr>
            <a:r>
              <a:t>Patch inference + reconstruction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114800"/>
            <a:ext cx="466344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B43"/>
                </a:solidFill>
                <a:latin typeface="Aptos"/>
              </a:defRPr>
            </a:pPr>
            <a:r>
              <a:t>Apply threshold 0.50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983479"/>
            <a:ext cx="4663440" cy="50292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B43"/>
                </a:solidFill>
                <a:latin typeface="Aptos"/>
              </a:defRPr>
            </a:pPr>
            <a:r>
              <a:t>Save prediction masks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3"/>
                </a:solidFill>
              </a:defRPr>
            </a:pPr>
            <a:r>
              <a:t>Dice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453896"/>
            <a:ext cx="6675120" cy="3200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11680" y="1453896"/>
            <a:ext cx="5515651" cy="320040"/>
          </a:xfrm>
          <a:prstGeom prst="rect">
            <a:avLst/>
          </a:prstGeom>
          <a:solidFill>
            <a:srgbClr val="26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400" y="1408176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5C91"/>
                </a:solidFill>
              </a:defRPr>
            </a:pPr>
            <a:r>
              <a:t>82.63%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3"/>
                </a:solidFill>
              </a:defRPr>
            </a:pPr>
            <a:r>
              <a:t>IoU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276856"/>
            <a:ext cx="6675120" cy="3200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11680" y="2276856"/>
            <a:ext cx="4703289" cy="320040"/>
          </a:xfrm>
          <a:prstGeom prst="rect">
            <a:avLst/>
          </a:prstGeom>
          <a:solidFill>
            <a:srgbClr val="287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15400" y="2231136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787D"/>
                </a:solidFill>
              </a:defRPr>
            </a:pPr>
            <a:r>
              <a:t>70.46%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3"/>
                </a:solidFill>
              </a:defRPr>
            </a:pPr>
            <a:r>
              <a:t>Precision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3099816"/>
            <a:ext cx="6675120" cy="3200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11680" y="3099816"/>
            <a:ext cx="5491621" cy="320040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15400" y="3054096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3"/>
                </a:solidFill>
              </a:defRPr>
            </a:pPr>
            <a:r>
              <a:t>82.27%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8620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3"/>
                </a:solidFill>
              </a:defRPr>
            </a:pPr>
            <a:r>
              <a:t>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922776"/>
            <a:ext cx="6675120" cy="3200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011680" y="3922776"/>
            <a:ext cx="5557704" cy="320040"/>
          </a:xfrm>
          <a:prstGeom prst="rect">
            <a:avLst/>
          </a:prstGeom>
          <a:solidFill>
            <a:srgbClr val="2D7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3877056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7D52"/>
                </a:solidFill>
              </a:defRPr>
            </a:pPr>
            <a:r>
              <a:t>83.26%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70916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3"/>
                </a:solidFill>
              </a:defRPr>
            </a:pPr>
            <a:r>
              <a:t>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745736"/>
            <a:ext cx="6675120" cy="32004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011680" y="4745736"/>
            <a:ext cx="6474198" cy="320040"/>
          </a:xfrm>
          <a:prstGeom prst="rect">
            <a:avLst/>
          </a:prstGeom>
          <a:solidFill>
            <a:srgbClr val="BE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15400" y="4700016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E912D"/>
                </a:solidFill>
              </a:defRPr>
            </a:pPr>
            <a:r>
              <a:t>96.99%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59752" y="5500116"/>
            <a:ext cx="2194560" cy="809244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t>Best checkpoint: Epoch 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5036" y="5486400"/>
            <a:ext cx="2194560" cy="838962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B43"/>
                </a:solidFill>
                <a:latin typeface="Aptos"/>
              </a:defRPr>
            </a:pPr>
            <a:r>
              <a:rPr dirty="0"/>
              <a:t>Selected threshold: 0.50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38944" y="5486400"/>
            <a:ext cx="2029968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7D52"/>
                </a:solidFill>
                <a:latin typeface="Aptos"/>
              </a:defRPr>
            </a:pPr>
            <a:r>
              <a:rPr dirty="0"/>
              <a:t>20 / 20 DRIVE test images processed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486400"/>
            <a:ext cx="32004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B43"/>
                </a:solidFill>
                <a:latin typeface="Aptos"/>
              </a:defRPr>
            </a:pPr>
            <a:r>
              <a:rPr dirty="0"/>
              <a:t>Vessel coverage across test predictions:</a:t>
            </a:r>
            <a:br>
              <a:rPr dirty="0"/>
            </a:br>
            <a:r>
              <a:rPr dirty="0"/>
              <a:t>approximately 7.29% – 10.87%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System Output &amp; Web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47416"/>
            <a:ext cx="3108960" cy="420624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65C91"/>
                </a:solidFill>
                <a:latin typeface="Aptos"/>
              </a:defRPr>
            </a:pPr>
            <a:r>
              <a:rPr dirty="0"/>
              <a:t>Original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25227" y="2953512"/>
            <a:ext cx="310896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787D"/>
                </a:solidFill>
                <a:latin typeface="Aptos"/>
              </a:defRPr>
            </a:pPr>
            <a:r>
              <a:rPr dirty="0"/>
              <a:t>Binary Segmentation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93616" y="2947416"/>
            <a:ext cx="3108960" cy="420624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B44141"/>
                </a:solidFill>
                <a:latin typeface="Aptos"/>
              </a:defRPr>
            </a:pPr>
            <a:r>
              <a:rPr dirty="0"/>
              <a:t>Vessel Overlay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71587" y="6156558"/>
            <a:ext cx="8595360" cy="35397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B43"/>
                </a:solidFill>
                <a:latin typeface="Aptos"/>
              </a:defRPr>
            </a:pPr>
            <a:r>
              <a:rPr dirty="0"/>
              <a:t>Vessel Coverage | Pixel Statistics | Probability | Confidence Distribution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AD311B-8D26-4E65-A736-59C01AF3E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782935"/>
            <a:ext cx="2468880" cy="19328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32F60A-7A99-383E-485E-93A48B992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696" y="796651"/>
            <a:ext cx="2440984" cy="19191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00DB73-0038-0287-B7E6-86E743260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656" y="758952"/>
            <a:ext cx="2468880" cy="19568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F85F3CF-8823-CDEF-44D3-64EC34DAD1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132" y="3497580"/>
            <a:ext cx="6872468" cy="25126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362990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lang="en-IN" sz="4400" dirty="0"/>
              <a:t>11</a:t>
            </a:r>
            <a:r>
              <a:rPr dirty="0"/>
              <a:t>. </a:t>
            </a:r>
            <a:r>
              <a:rPr sz="4400" dirty="0"/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332720" cy="2805383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sz="2000" dirty="0"/>
              <a:t>• DRIVE is a relatively small dataset, which limits diversity and generalization.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sz="2000" dirty="0"/>
              <a:t>• Thin and low-contrast vessels may still be missed or incorrectly classified.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sz="2000" dirty="0"/>
              <a:t>• The current model is a baseline U-Net without an explicit attention mechanism.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sz="2000" dirty="0"/>
              <a:t>• Patch-based inference requires reconstruction and may introduce boundary-related errors.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sz="2000" dirty="0"/>
              <a:t>• Performance can vary for retinal images that differ substantially from the DRIVE distribution.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sz="2000" dirty="0"/>
              <a:t>• The system is intended for research/educational visualization, not independent clinical diagnosis.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440680"/>
            <a:ext cx="7589520" cy="59436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B44141"/>
                </a:solidFill>
                <a:latin typeface="Aptos"/>
              </a:defRPr>
            </a:pPr>
            <a:r>
              <a:t>Key limitation: generalization beyond the training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2" y="0"/>
            <a:ext cx="12191695" cy="987552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88036"/>
            <a:ext cx="422346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12.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92224"/>
            <a:ext cx="10424160" cy="4480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Advanced architectures: Attention U-Net, U-Net++ and residual/dense designs.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Multi-level and multi-scale feature extraction for thin vessels.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Stronger data augmentation and larger retinal datasets.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Evaluate generalization using STARE and CHASE_DB1.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Improve thin-vessel segmentation using specialized losses and boundary-aware learning.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Optimize inference using pruning, quantization or knowledge distillation.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Enhance Django application with authentication, history, comparison and richer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5440680"/>
            <a:ext cx="8961120" cy="594360"/>
          </a:xfrm>
          <a:prstGeom prst="roundRect">
            <a:avLst/>
          </a:prstGeom>
          <a:solidFill>
            <a:srgbClr val="E8EEF4"/>
          </a:solidFill>
          <a:ln w="19050">
            <a:solidFill>
              <a:srgbClr val="287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2B43"/>
                </a:solidFill>
                <a:latin typeface="Aptos"/>
              </a:defRPr>
            </a:pPr>
            <a:r>
              <a:rPr dirty="0"/>
              <a:t>Goal: higher accuracy + stronger generalization + faster inference + richer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0584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13.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510528"/>
            <a:ext cx="11548872" cy="13716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5379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A66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10607040" cy="4480560"/>
          </a:xfrm>
          <a:prstGeom prst="rect">
            <a:avLst/>
          </a:prstGeom>
          <a:noFill/>
        </p:spPr>
        <p:txBody>
          <a:bodyPr wrap="square" lIns="36576" tIns="27432" r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A complete U-Net-based retinal vessel segmentation pipeline was successfully developed.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The system combines preprocessing, 64×64 patch generation, model training, threshold optimization and test prediction.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The best checkpoint was obtained at Epoch 24 and threshold 0.50 produced the reported final performance.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The model achieved Dice 82.63%, </a:t>
            </a:r>
            <a:r>
              <a:rPr dirty="0" err="1"/>
              <a:t>IoU</a:t>
            </a:r>
            <a:r>
              <a:rPr dirty="0"/>
              <a:t> 70.46%, Precision 82.27%, Recall 83.26% and Accuracy 96.99%.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All 20 DRIVE test images were successfully processed.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Django integration makes the trained model accessible through image upload, visualization, statistics and mask download.</a:t>
            </a:r>
          </a:p>
          <a:p>
            <a:pPr>
              <a:spcAft>
                <a:spcPts val="900"/>
              </a:spcAft>
              <a:defRPr sz="1800">
                <a:solidFill>
                  <a:srgbClr val="14181C"/>
                </a:solidFill>
                <a:latin typeface="Aptos"/>
              </a:defRPr>
            </a:pPr>
            <a:r>
              <a:rPr dirty="0"/>
              <a:t>• The project provides a practical foundation for future research in automated retinal image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7B562-8859-9FE1-38D8-9FFA671C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>
            <a:extLst>
              <a:ext uri="{FF2B5EF4-FFF2-40B4-BE49-F238E27FC236}">
                <a16:creationId xmlns:a16="http://schemas.microsoft.com/office/drawing/2014/main" id="{5BD36784-C837-04DD-A512-3526553C42DE}"/>
              </a:ext>
            </a:extLst>
          </p:cNvPr>
          <p:cNvCxnSpPr/>
          <p:nvPr/>
        </p:nvCxnSpPr>
        <p:spPr>
          <a:xfrm>
            <a:off x="8503920" y="914400"/>
            <a:ext cx="3017520" cy="5120640"/>
          </a:xfrm>
          <a:prstGeom prst="line">
            <a:avLst/>
          </a:prstGeom>
          <a:ln w="25400">
            <a:solidFill>
              <a:srgbClr val="30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367505F0-5F15-30A2-DA0D-4D54D923D8BA}"/>
              </a:ext>
            </a:extLst>
          </p:cNvPr>
          <p:cNvCxnSpPr/>
          <p:nvPr/>
        </p:nvCxnSpPr>
        <p:spPr>
          <a:xfrm>
            <a:off x="8732520" y="914400"/>
            <a:ext cx="2560320" cy="5120640"/>
          </a:xfrm>
          <a:prstGeom prst="line">
            <a:avLst/>
          </a:prstGeom>
          <a:ln w="25400">
            <a:solidFill>
              <a:srgbClr val="30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C3ECAB8-9106-F40C-B95E-7B8EE2196CF4}"/>
              </a:ext>
            </a:extLst>
          </p:cNvPr>
          <p:cNvCxnSpPr/>
          <p:nvPr/>
        </p:nvCxnSpPr>
        <p:spPr>
          <a:xfrm>
            <a:off x="8961120" y="914400"/>
            <a:ext cx="2103120" cy="5120640"/>
          </a:xfrm>
          <a:prstGeom prst="line">
            <a:avLst/>
          </a:prstGeom>
          <a:ln w="25400">
            <a:solidFill>
              <a:srgbClr val="30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5B171A5-B692-EB41-1DD5-30DD9CADC444}"/>
              </a:ext>
            </a:extLst>
          </p:cNvPr>
          <p:cNvCxnSpPr/>
          <p:nvPr/>
        </p:nvCxnSpPr>
        <p:spPr>
          <a:xfrm>
            <a:off x="9189720" y="914400"/>
            <a:ext cx="1645920" cy="5120640"/>
          </a:xfrm>
          <a:prstGeom prst="line">
            <a:avLst/>
          </a:prstGeom>
          <a:ln w="25400">
            <a:solidFill>
              <a:srgbClr val="30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932CCE3-7159-3E45-FCEA-58541A81D62A}"/>
              </a:ext>
            </a:extLst>
          </p:cNvPr>
          <p:cNvSpPr txBox="1"/>
          <p:nvPr/>
        </p:nvSpPr>
        <p:spPr>
          <a:xfrm>
            <a:off x="4233672" y="3013501"/>
            <a:ext cx="40416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lang="en-IN" sz="4800" u="sng" dirty="0"/>
              <a:t>THANK YOU</a:t>
            </a:r>
            <a:endParaRPr sz="4800" u="sng" dirty="0"/>
          </a:p>
        </p:txBody>
      </p:sp>
    </p:spTree>
    <p:extLst>
      <p:ext uri="{BB962C8B-B14F-4D97-AF65-F5344CB8AC3E}">
        <p14:creationId xmlns:p14="http://schemas.microsoft.com/office/powerpoint/2010/main" val="3834895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1083</Words>
  <Application>Microsoft Office PowerPoint</Application>
  <PresentationFormat>Widescreen</PresentationFormat>
  <Paragraphs>179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JETTIGARI LOKESH GOUD</dc:creator>
  <cp:keywords/>
  <dc:description>generated using python-pptx</dc:description>
  <cp:lastModifiedBy>JETTIGARI LOKESH GOUD</cp:lastModifiedBy>
  <cp:revision>2</cp:revision>
  <dcterms:created xsi:type="dcterms:W3CDTF">2013-01-27T09:14:16Z</dcterms:created>
  <dcterms:modified xsi:type="dcterms:W3CDTF">2026-08-20T03:07:14Z</dcterms:modified>
  <cp:category/>
</cp:coreProperties>
</file>